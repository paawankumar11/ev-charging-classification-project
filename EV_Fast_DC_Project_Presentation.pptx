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908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3840480" cy="3840480"/>
          </a:xfrm>
          <a:prstGeom prst="ellipse">
            <a:avLst/>
          </a:prstGeom>
          <a:solidFill>
            <a:srgbClr val="2EE6A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0057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23960" y="1874520"/>
            <a:ext cx="2331720" cy="2331720"/>
          </a:xfrm>
          <a:prstGeom prst="ellipse">
            <a:avLst/>
          </a:prstGeom>
          <a:solidFill>
            <a:srgbClr val="132B57"/>
          </a:solidFill>
          <a:ln w="19050">
            <a:solidFill>
              <a:srgbClr val="2EE6A6"/>
            </a:solidFill>
            <a:prstDash val="solid"/>
          </a:ln>
        </p:spPr>
      </p:sp>
      <p:pic>
        <p:nvPicPr>
          <p:cNvPr id="5" name="Image 0" descr="/home/claude/work/pptx_proj/icon_bolt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60604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 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94360" y="1874520"/>
            <a:ext cx="7863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Fast DC Charging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machine-learning approach to spotting fast-charging sites from footprint and location alone.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58,642 Locations Analyzed     15 Engineered Features     9 Models Compared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3" name="Image 0" descr="/home/claude/work/pptx_proj/icon_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9436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263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sites vary enormously — some are single-plug setups, others are large, multi-port hubs.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Power-rating data is frequently missing or unverified, especially in new or crowd-sourced listings.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site's footprint — station count, port count, location — is almost always known upfront, even when power rating isn't.</a:t>
            </a:r>
            <a:endParaRPr lang="en-US" sz="1550" dirty="0"/>
          </a:p>
          <a:p>
            <a:pPr marL="342900" indent="-342900">
              <a:lnSpc>
                <a:spcPct val="118000"/>
              </a:lnSpc>
              <a:buSzPct val="100000"/>
              <a:buChar char="●"/>
            </a:pPr>
            <a:r>
              <a:rPr lang="en-US" sz="155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can footprint and location alone predict whether a site offers fast DC charging?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8640" y="580644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a binary classification problem — predicting the target column has_fast_dc.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086600" y="1371600"/>
            <a:ext cx="452628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86600" y="1371600"/>
            <a:ext cx="4526280" cy="4297680"/>
          </a:xfrm>
          <a:prstGeom prst="roundRect">
            <a:avLst>
              <a:gd name="adj" fmla="val 2979"/>
            </a:avLst>
          </a:prstGeom>
          <a:solidFill>
            <a:srgbClr val="0057FF">
              <a:alpha val="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406640" y="1783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5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58,642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7406640" y="2606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Locations Analyzed Worldwide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06640" y="34290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740664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Have Fast DC Charging Today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06640" y="5074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raw columns  →  1 target: has_fast_dc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3" name="Image 0" descr="/home/claude/work/pptx_proj/icon_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9436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7" name="Image 1" descr="/home/claude/work/pptx_proj/icon_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1792224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6616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FB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04672" y="231343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4672" y="26517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broken power readings, capped outliers at the 99th percentile, checked duplicates.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34256" y="1417320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0288" y="1673352"/>
            <a:ext cx="502920" cy="502920"/>
          </a:xfrm>
          <a:prstGeom prst="ellipse">
            <a:avLst/>
          </a:prstGeom>
          <a:solidFill>
            <a:srgbClr val="00A876"/>
          </a:solidFill>
          <a:ln/>
        </p:spPr>
      </p:sp>
      <p:pic>
        <p:nvPicPr>
          <p:cNvPr id="13" name="Image 2" descr="/home/claude/work/pptx_proj/icon_shiel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792224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51776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FB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90288" y="231343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Leakage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90288" y="26517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&amp; dropped 9 columns mathematically tied to the target's own definition.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119872" y="1417320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75904" y="1673352"/>
            <a:ext cx="502920" cy="50292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19" name="Image 3" descr="/home/claude/work/pptx_proj/icon_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1792224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3739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FB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375904" y="231343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Visually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375904" y="26517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distinct EDA charts to surface footprint, density, and geographic patterns.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3611880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4672" y="3867912"/>
            <a:ext cx="502920" cy="502920"/>
          </a:xfrm>
          <a:prstGeom prst="ellipse">
            <a:avLst/>
          </a:prstGeom>
          <a:solidFill>
            <a:srgbClr val="00A876"/>
          </a:solidFill>
          <a:ln/>
        </p:spPr>
      </p:sp>
      <p:pic>
        <p:nvPicPr>
          <p:cNvPr id="25" name="Image 4" descr="/home/claude/work/pptx_proj/icon_layergroup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3986784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6616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FB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04672" y="45079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04672" y="484632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15-column, model-ready feature set from 5 raw columns.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334256" y="3611880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90288" y="3867912"/>
            <a:ext cx="502920" cy="50292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31" name="Image 5" descr="/home/claude/work/pptx_proj/icon_robo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3986784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51776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FB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4590288" y="45079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9 Models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4590288" y="484632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through XGBoost, scored the same way on the same split.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119872" y="3611880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375904" y="3867912"/>
            <a:ext cx="502920" cy="502920"/>
          </a:xfrm>
          <a:prstGeom prst="ellipse">
            <a:avLst/>
          </a:prstGeom>
          <a:solidFill>
            <a:srgbClr val="00A876"/>
          </a:solidFill>
          <a:ln/>
        </p:spPr>
      </p:sp>
      <p:pic>
        <p:nvPicPr>
          <p:cNvPr id="37" name="Image 6" descr="/home/claude/work/pptx_proj/icon_sliders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4776" y="3986784"/>
            <a:ext cx="265176" cy="26517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137392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FB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8375904" y="45079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&amp; Finalize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8375904" y="484632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on the top 2 ensembles to lock in the final model.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0A876"/>
          </a:solidFill>
          <a:ln/>
        </p:spPr>
      </p:sp>
      <p:pic>
        <p:nvPicPr>
          <p:cNvPr id="3" name="Image 0" descr="/home/claude/work/pptx_proj/icon_chartlin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9436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6" name="Image 1" descr="/home/claude/work/pptx_proj/icon_expa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53619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Size Is the Strongest Signal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188720" y="17373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station_count and port_count consistently separate fast-charging sites from standard ones — adoption rises step-wise as sites get bigger.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00A876"/>
          </a:solidFill>
          <a:ln/>
        </p:spPr>
      </p:sp>
      <p:pic>
        <p:nvPicPr>
          <p:cNvPr id="10" name="Image 2" descr="/home/claude/work/pptx_proj/icon_mapmark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95351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788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Clusters, Not Spreads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88720" y="3154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Fast-charging hotspots trace Western Europe and North America; latitude, longitude, and country all add real predictive value.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14" name="Image 3" descr="/home/claude/work/pptx_proj/icon_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37083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206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Removal Was Essential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188720" y="45720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columns were mathematically tied to the answer itself. Dropping them turned a fake “perfect” model into an honest, usable one.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178040" y="1371600"/>
            <a:ext cx="4434840" cy="4892040"/>
          </a:xfrm>
          <a:prstGeom prst="roundRect">
            <a:avLst>
              <a:gd name="adj" fmla="val 2887"/>
            </a:avLst>
          </a:prstGeom>
          <a:solidFill>
            <a:srgbClr val="0A1B3D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74980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7498080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(Tuned)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7498080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E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0.806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749808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9646920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E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64692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49808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E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7498080" y="4590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(Fast DC)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64692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E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646920" y="4590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(Fast DC)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498080" y="5257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9 candidate models after RandomizedSearchCV tuning on Random Forest and XGBoost.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3" name="Image 0" descr="/home/claude/work/pptx_proj/icon_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9436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719072"/>
            <a:ext cx="502920" cy="50292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7" name="Image 1" descr="/home/claude/work/pptx_proj/icon_expa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1837944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235915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Recall on Fast-DC Sites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04672" y="274320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still misses 41% of true fast-DC sites (59% recall). Threshold tuning or resampling could recover more of them.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63640" y="14630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19672" y="1719072"/>
            <a:ext cx="502920" cy="502920"/>
          </a:xfrm>
          <a:prstGeom prst="ellipse">
            <a:avLst/>
          </a:prstGeom>
          <a:solidFill>
            <a:srgbClr val="0057FF"/>
          </a:solidFill>
          <a:ln/>
        </p:spPr>
      </p:sp>
      <p:pic>
        <p:nvPicPr>
          <p:cNvPr id="12" name="Image 2" descr="/home/claude/work/pptx_proj/icon_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1837944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19672" y="235915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Richer Signals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519672" y="274320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volume, population density, or road-network proximity could sharpen predictions beyond footprint alone.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7033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04672" y="3959352"/>
            <a:ext cx="502920" cy="502920"/>
          </a:xfrm>
          <a:prstGeom prst="ellipse">
            <a:avLst/>
          </a:prstGeom>
          <a:solidFill>
            <a:srgbClr val="00A876"/>
          </a:solidFill>
          <a:ln/>
        </p:spPr>
      </p:sp>
      <p:pic>
        <p:nvPicPr>
          <p:cNvPr id="17" name="Image 3" descr="/home/claude/work/pptx_proj/icon_layergrou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078224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459943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Ensemble Stacking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04672" y="498348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Random Forest, XGBoost, and Gradient Boosting behind a meta-learner to see if it beats the single best model.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37033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B3D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19672" y="3959352"/>
            <a:ext cx="502920" cy="502920"/>
          </a:xfrm>
          <a:prstGeom prst="ellipse">
            <a:avLst/>
          </a:prstGeom>
          <a:solidFill>
            <a:srgbClr val="00A876"/>
          </a:solidFill>
          <a:ln/>
        </p:spPr>
      </p:sp>
      <p:pic>
        <p:nvPicPr>
          <p:cNvPr id="22" name="Image 4" descr="/home/claude/work/pptx_proj/icon_checkcircl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4078224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19672" y="459943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 Real-World Use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519672" y="498348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model as a lightweight API so planning teams can flag likely fast-DC sites in incomplete datasets.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0057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645920"/>
            <a:ext cx="3108960" cy="3108960"/>
          </a:xfrm>
          <a:prstGeom prst="ellipse">
            <a:avLst/>
          </a:prstGeom>
          <a:solidFill>
            <a:srgbClr val="2EE6A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2EE6A6"/>
          </a:solidFill>
          <a:ln/>
        </p:spPr>
      </p:sp>
      <p:pic>
        <p:nvPicPr>
          <p:cNvPr id="5" name="Image 0" descr="/home/claude/work/pptx_proj/icon_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Holds Up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94360" y="1572768"/>
            <a:ext cx="128016" cy="128016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4356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leakage-free pipeline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180136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that mathematically gave away the answer was found and removed before modeling — the 0.806 ROC-AUC reflects real predictive difficulty, not a shortcut.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2532888"/>
            <a:ext cx="128016" cy="128016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3957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useful in practice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14400" y="27614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likely fast-DC sites in incomplete, real-world datasets — exactly where power ratings are missing but footprint and location are not.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3493008"/>
            <a:ext cx="128016" cy="128016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3558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Rigorously benchmarked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14400" y="37216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algorithms compared under identical conditions; the top 2 candidates further tuned with RandomizedSearchCV before a final pick was made.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4453128"/>
            <a:ext cx="128016" cy="128016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3159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14400" y="46817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feature engineering, and evaluation are scripted end-to-end — the same pipeline can be re-run as new charging data comes in.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E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that's transparent about its limits is more valuable than one that hides them.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617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Paawan</cp:lastModifiedBy>
  <cp:revision>2</cp:revision>
  <dcterms:created xsi:type="dcterms:W3CDTF">2026-08-05T03:48:18Z</dcterms:created>
  <dcterms:modified xsi:type="dcterms:W3CDTF">2026-08-05T04:28:34Z</dcterms:modified>
</cp:coreProperties>
</file>