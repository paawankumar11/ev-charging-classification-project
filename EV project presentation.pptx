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28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v-charging-classification-project-2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B5482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828800"/>
            <a:ext cx="3474720" cy="347472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94360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E8A33D"/>
          </a:solidFill>
          <a:ln/>
        </p:spPr>
      </p:sp>
      <p:pic>
        <p:nvPicPr>
          <p:cNvPr id="5" name="Image 0" descr="/home/claude/work/pptx_v2/icon_bolt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7223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8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  •   CAPSTONE PROJECT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21488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Predicting Fast DC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Charging Availability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4069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machine-learning approach to spotting fast-charging sites from footprint and location alone.</a:t>
            </a:r>
            <a:endParaRPr lang="en-US" sz="155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99E70AF-0E8B-F87B-6BB9-E7458D1368C7}"/>
              </a:ext>
            </a:extLst>
          </p:cNvPr>
          <p:cNvSpPr/>
          <p:nvPr/>
        </p:nvSpPr>
        <p:spPr>
          <a:xfrm>
            <a:off x="6096000" y="5806440"/>
            <a:ext cx="2368296" cy="566928"/>
          </a:xfrm>
          <a:prstGeom prst="roundRect">
            <a:avLst>
              <a:gd name="adj" fmla="val 50000"/>
            </a:avLst>
          </a:prstGeom>
          <a:ln w="15875">
            <a:solidFill>
              <a:srgbClr val="E8A33D"/>
            </a:solidFill>
            <a:prstDash val="solid"/>
          </a:ln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1AC863D-289B-ED73-1ECD-7D1A719F5395}"/>
              </a:ext>
            </a:extLst>
          </p:cNvPr>
          <p:cNvSpPr/>
          <p:nvPr/>
        </p:nvSpPr>
        <p:spPr>
          <a:xfrm>
            <a:off x="6096000" y="580644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58,642  </a:t>
            </a: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BECFF55-268F-6B97-01AE-0681F316ED6F}"/>
              </a:ext>
            </a:extLst>
          </p:cNvPr>
          <p:cNvSpPr/>
          <p:nvPr/>
        </p:nvSpPr>
        <p:spPr>
          <a:xfrm>
            <a:off x="8692896" y="5806440"/>
            <a:ext cx="1581912" cy="566928"/>
          </a:xfrm>
          <a:prstGeom prst="roundRect">
            <a:avLst>
              <a:gd name="adj" fmla="val 50000"/>
            </a:avLst>
          </a:prstGeom>
          <a:ln w="15875">
            <a:solidFill>
              <a:srgbClr val="E8A33D"/>
            </a:solidFill>
            <a:prstDash val="solid"/>
          </a:ln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86149FA-6FE2-1221-73E5-F4E2AA792B77}"/>
              </a:ext>
            </a:extLst>
          </p:cNvPr>
          <p:cNvSpPr/>
          <p:nvPr/>
        </p:nvSpPr>
        <p:spPr>
          <a:xfrm>
            <a:off x="8692896" y="5806440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40B274B-22B5-7593-442A-BA0C32F50635}"/>
              </a:ext>
            </a:extLst>
          </p:cNvPr>
          <p:cNvSpPr/>
          <p:nvPr/>
        </p:nvSpPr>
        <p:spPr>
          <a:xfrm>
            <a:off x="10503408" y="5806440"/>
            <a:ext cx="1225296" cy="566928"/>
          </a:xfrm>
          <a:prstGeom prst="roundRect">
            <a:avLst>
              <a:gd name="adj" fmla="val 50000"/>
            </a:avLst>
          </a:prstGeom>
          <a:ln w="15875">
            <a:solidFill>
              <a:srgbClr val="E8A33D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2962F35-59B6-BDC2-BD72-644239417E0A}"/>
              </a:ext>
            </a:extLst>
          </p:cNvPr>
          <p:cNvSpPr/>
          <p:nvPr/>
        </p:nvSpPr>
        <p:spPr>
          <a:xfrm>
            <a:off x="10503408" y="580644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29814" cy="292608"/>
          </a:xfrm>
          <a:prstGeom prst="roundRect">
            <a:avLst>
              <a:gd name="adj" fmla="val 18750"/>
            </a:avLst>
          </a:prstGeom>
          <a:solidFill>
            <a:srgbClr val="2A2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29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—  PROBLEM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84632" y="1350745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E8A33D"/>
          </a:solidFill>
          <a:ln/>
        </p:spPr>
      </p:sp>
      <p:pic>
        <p:nvPicPr>
          <p:cNvPr id="5" name="Image 0" descr="/home/claude/work/pptx_v2/icon_bullseye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78761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273021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484632" y="225600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B548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73121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infrastructure.</a:t>
            </a:r>
            <a:r>
              <a:rPr lang="en-US" sz="14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 charging sites range from tiny single-plug setups to large, multi-port hubs.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84632" y="321612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B5482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033241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power data.</a:t>
            </a:r>
            <a:r>
              <a:rPr lang="en-US" sz="14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Power-rating info is frequently missing or unverified in new or crowd-sourced listings.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84632" y="417624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B5482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993361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is reliable.</a:t>
            </a:r>
            <a:r>
              <a:rPr lang="en-US" sz="14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Station count, port count, and location are almost always known upfront.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84632" y="51363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B5482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953481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question.</a:t>
            </a:r>
            <a:r>
              <a:rPr lang="en-US" sz="14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footprint and location alone predict whether a site offers fast DC charging?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040880" y="1600200"/>
            <a:ext cx="4572000" cy="4160520"/>
          </a:xfrm>
          <a:prstGeom prst="roundRect">
            <a:avLst>
              <a:gd name="adj" fmla="val 3077"/>
            </a:avLst>
          </a:prstGeom>
          <a:solidFill>
            <a:srgbClr val="2A2420"/>
          </a:solidFill>
          <a:ln/>
          <a:effectLst>
            <a:outerShdw blurRad="114300" dist="38100" dir="5400000" algn="bl" rotWithShape="0">
              <a:srgbClr val="2A242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60920" y="1965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58,642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73609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Locations Analyzed Worldwide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09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548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7360920" y="4297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Have Fast DC Charging Today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60920" y="50749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3A322C"/>
          </a:solidFill>
          <a:ln/>
        </p:spPr>
      </p:sp>
      <p:sp>
        <p:nvSpPr>
          <p:cNvPr id="21" name="Text 18"/>
          <p:cNvSpPr/>
          <p:nvPr/>
        </p:nvSpPr>
        <p:spPr>
          <a:xfrm>
            <a:off x="736092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→  has_fast_dc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46758" cy="292608"/>
          </a:xfrm>
          <a:prstGeom prst="roundRect">
            <a:avLst>
              <a:gd name="adj" fmla="val 18750"/>
            </a:avLst>
          </a:prstGeom>
          <a:solidFill>
            <a:srgbClr val="2A2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9467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—  APPROACH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E8A33D"/>
          </a:solidFill>
          <a:ln/>
        </p:spPr>
      </p:sp>
      <p:pic>
        <p:nvPicPr>
          <p:cNvPr id="5" name="Image 0" descr="/home/claude/work/pptx_v2/icon_route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9692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Approach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1005840" y="3703320"/>
            <a:ext cx="1024128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2990088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22860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860" y="23591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broken readings, capped outliers, checked duplicates.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25496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5482A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25496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054096" y="3931920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2071116" y="4434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71116" y="48280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9 columns tied to the target's own definition.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73752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375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102352" y="2990088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4119372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Visually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19372" y="23591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EDA charts on footprint, density &amp; geography.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22008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5482A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2200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150608" y="3931920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167628" y="4434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67628" y="48280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15 model-ready features from 5 raw columns.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970264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70264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198864" y="2990088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8215884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9 Models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15884" y="23591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through XGBoost, one fair loop.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1018520" y="3474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5482A"/>
          </a:solidFill>
          <a:ln w="25400">
            <a:solidFill>
              <a:srgbClr val="F3ECD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018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1247120" y="3931920"/>
            <a:ext cx="0" cy="50292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10264140" y="4434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Finalize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264140" y="482803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on the top 2 ensembles.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50338" cy="292608"/>
          </a:xfrm>
          <a:prstGeom prst="roundRect">
            <a:avLst>
              <a:gd name="adj" fmla="val 18750"/>
            </a:avLst>
          </a:prstGeom>
          <a:solidFill>
            <a:srgbClr val="2A2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50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—  KEY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E8A33D"/>
          </a:solidFill>
          <a:ln/>
        </p:spPr>
      </p:sp>
      <p:pic>
        <p:nvPicPr>
          <p:cNvPr id="5" name="Image 0" descr="/home/claude/work/pptx_v2/icon_lightbulb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9692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Found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A242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192938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/>
        </p:spPr>
      </p:sp>
      <p:pic>
        <p:nvPicPr>
          <p:cNvPr id="9" name="Image 1" descr="/home/claude/work/pptx_v2/icon_expand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574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25603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Size Is the Strongest Signal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86384" y="30632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station_count &amp; port_count consistently separate fast-charging sites from standard ones.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70248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A242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07992" y="192938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B5482A"/>
          </a:solidFill>
          <a:ln/>
        </p:spPr>
      </p:sp>
      <p:pic>
        <p:nvPicPr>
          <p:cNvPr id="14" name="Image 2" descr="/home/claude/work/pptx_v2/icon_mapmarker_c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20574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07992" y="25603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Clusters, Not Spreads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07992" y="30632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trace Western Europe &amp; North America; location adds real predictive value.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91856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A242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0" y="192938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/>
        </p:spPr>
      </p:sp>
      <p:pic>
        <p:nvPicPr>
          <p:cNvPr id="19" name="Image 3" descr="/home/claude/work/pptx_v2/icon_shield_charco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205740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0" y="25603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Removal Was Essential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29600" y="30632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columns were tied to the answer itself. Dropping them made the model honest.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63880" y="4482966"/>
            <a:ext cx="10948416" cy="1737360"/>
          </a:xfrm>
          <a:prstGeom prst="roundRect">
            <a:avLst>
              <a:gd name="adj" fmla="val 7368"/>
            </a:avLst>
          </a:prstGeom>
          <a:solidFill>
            <a:srgbClr val="2A2420"/>
          </a:solidFill>
          <a:ln/>
          <a:effectLst>
            <a:outerShdw blurRad="114300" dist="38100" dir="5400000" algn="bl" rotWithShape="0">
              <a:srgbClr val="2A242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38200" y="4803006"/>
            <a:ext cx="542897" cy="548640"/>
          </a:xfrm>
          <a:prstGeom prst="roundRect">
            <a:avLst>
              <a:gd name="adj" fmla="val 21667"/>
            </a:avLst>
          </a:prstGeom>
          <a:solidFill>
            <a:srgbClr val="E8A33D"/>
          </a:solidFill>
          <a:ln/>
        </p:spPr>
      </p:sp>
      <p:pic>
        <p:nvPicPr>
          <p:cNvPr id="24" name="Image 4" descr="/home/claude/work/pptx_v2/icon_trophy_charco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216" y="4931022"/>
            <a:ext cx="289545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1432" y="4757286"/>
            <a:ext cx="235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551432" y="5013318"/>
            <a:ext cx="2352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XGBoost</a:t>
            </a:r>
            <a:endParaRPr lang="en-US" sz="1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(Tuned)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4587240" y="4803006"/>
            <a:ext cx="1583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0.806</a:t>
            </a:r>
            <a:endParaRPr lang="en-US" sz="2700" dirty="0"/>
          </a:p>
        </p:txBody>
      </p:sp>
      <p:sp>
        <p:nvSpPr>
          <p:cNvPr id="28" name="Text 21"/>
          <p:cNvSpPr/>
          <p:nvPr/>
        </p:nvSpPr>
        <p:spPr>
          <a:xfrm>
            <a:off x="4587240" y="5470518"/>
            <a:ext cx="1583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324600" y="4803006"/>
            <a:ext cx="1583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75%</a:t>
            </a:r>
            <a:endParaRPr lang="en-US" sz="2700" dirty="0"/>
          </a:p>
        </p:txBody>
      </p:sp>
      <p:sp>
        <p:nvSpPr>
          <p:cNvPr id="30" name="Text 23"/>
          <p:cNvSpPr/>
          <p:nvPr/>
        </p:nvSpPr>
        <p:spPr>
          <a:xfrm>
            <a:off x="6324600" y="5470518"/>
            <a:ext cx="1583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8061960" y="4803006"/>
            <a:ext cx="1583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75%</a:t>
            </a:r>
            <a:endParaRPr lang="en-US" sz="2700" dirty="0"/>
          </a:p>
        </p:txBody>
      </p:sp>
      <p:sp>
        <p:nvSpPr>
          <p:cNvPr id="32" name="Text 25"/>
          <p:cNvSpPr/>
          <p:nvPr/>
        </p:nvSpPr>
        <p:spPr>
          <a:xfrm>
            <a:off x="8061960" y="5470518"/>
            <a:ext cx="1583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99320" y="4803006"/>
            <a:ext cx="1583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59%</a:t>
            </a:r>
            <a:endParaRPr lang="en-US" sz="2700" dirty="0"/>
          </a:p>
        </p:txBody>
      </p:sp>
      <p:sp>
        <p:nvSpPr>
          <p:cNvPr id="34" name="Text 27"/>
          <p:cNvSpPr/>
          <p:nvPr/>
        </p:nvSpPr>
        <p:spPr>
          <a:xfrm>
            <a:off x="9799320" y="5470518"/>
            <a:ext cx="1583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98548" cy="292608"/>
          </a:xfrm>
          <a:prstGeom prst="roundRect">
            <a:avLst>
              <a:gd name="adj" fmla="val 18750"/>
            </a:avLst>
          </a:prstGeom>
          <a:solidFill>
            <a:srgbClr val="2A2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09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— 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E8A33D"/>
          </a:solidFill>
          <a:ln/>
        </p:spPr>
      </p:sp>
      <p:pic>
        <p:nvPicPr>
          <p:cNvPr id="5" name="Image 0" descr="/home/claude/work/pptx_v2/icon_compass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9692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1016" y="7345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This Goes Next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1051560" y="1783080"/>
            <a:ext cx="0" cy="402336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" y="156362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71016" y="1783080"/>
            <a:ext cx="32004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15072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Recall on Fast-DC Sites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1828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misses 41% of true fast-DC sites (59% recall). Threshold tuning or resampling could recover more.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2104" y="29047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B5482A"/>
          </a:solidFill>
          <a:ln/>
        </p:spPr>
      </p:sp>
      <p:sp>
        <p:nvSpPr>
          <p:cNvPr id="14" name="Text 11"/>
          <p:cNvSpPr/>
          <p:nvPr/>
        </p:nvSpPr>
        <p:spPr>
          <a:xfrm>
            <a:off x="832104" y="2904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71016" y="3124200"/>
            <a:ext cx="32004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91640" y="2831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Richer Signals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91640" y="3169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volume, population density, or road-network proximity could sharpen predictions beyond footprint.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2104" y="42458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" y="4245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71016" y="4465320"/>
            <a:ext cx="32004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91640" y="41727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Ensemble Stacking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691640" y="4511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Random Forest, XGBoost, and Gradient Boosting behind a meta-learner to beat the single best model.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32104" y="55869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B5482A"/>
          </a:solidFill>
          <a:ln/>
        </p:spPr>
      </p:sp>
      <p:sp>
        <p:nvSpPr>
          <p:cNvPr id="24" name="Text 21"/>
          <p:cNvSpPr/>
          <p:nvPr/>
        </p:nvSpPr>
        <p:spPr>
          <a:xfrm>
            <a:off x="83210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71016" y="5806440"/>
            <a:ext cx="32004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5513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Real-World Use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91640" y="58521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as a lightweight API so planning teams can flag likely fast-DC sites in incomplete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3657600" cy="36576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3474720" cy="3474720"/>
          </a:xfrm>
          <a:prstGeom prst="ellipse">
            <a:avLst/>
          </a:prstGeom>
          <a:solidFill>
            <a:srgbClr val="B5482A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84048"/>
            <a:ext cx="2326234" cy="292608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3262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—  JUSTIFICATION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41248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E8A33D"/>
          </a:solidFill>
          <a:ln/>
        </p:spPr>
      </p:sp>
      <p:pic>
        <p:nvPicPr>
          <p:cNvPr id="7" name="Image 0" descr="/home/claude/work/pptx_v2/icon_checkdouble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9692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EC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Project Holds Up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70432" y="17282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leakage-free pipeline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70432" y="20848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that gave away the answer was found and removed — 0.806 ROC-AUC reflects real difficulty.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70432" y="27797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useful in practice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70432" y="3136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fast-DC sites exactly where power ratings are missing but footprint &amp; location are not.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70432" y="3831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benchmarked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70432" y="41879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algorithms compared under identical conditions; the top 2 further tuned before a final pick.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937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70432" y="48828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70432" y="52395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engineering, and evaluation are scripted end-to-end, ready to re-run.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0" y="1783080"/>
            <a:ext cx="4709160" cy="4251960"/>
          </a:xfrm>
          <a:prstGeom prst="roundRect">
            <a:avLst>
              <a:gd name="adj" fmla="val 3011"/>
            </a:avLst>
          </a:prstGeom>
          <a:solidFill>
            <a:srgbClr val="3A322C"/>
          </a:solidFill>
          <a:ln/>
        </p:spPr>
      </p:sp>
      <p:sp>
        <p:nvSpPr>
          <p:cNvPr id="26" name="Text 23"/>
          <p:cNvSpPr/>
          <p:nvPr/>
        </p:nvSpPr>
        <p:spPr>
          <a:xfrm>
            <a:off x="7178040" y="1920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7000" dirty="0"/>
          </a:p>
        </p:txBody>
      </p:sp>
      <p:sp>
        <p:nvSpPr>
          <p:cNvPr id="27" name="Text 24"/>
          <p:cNvSpPr/>
          <p:nvPr/>
        </p:nvSpPr>
        <p:spPr>
          <a:xfrm>
            <a:off x="7360920" y="288036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900" b="1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model that's transparent about its limits is more valuable than one that hides them.</a:t>
            </a:r>
            <a:endParaRPr lang="en-US" sz="19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360920" y="5257800"/>
            <a:ext cx="457200" cy="54864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29" name="Text 26"/>
          <p:cNvSpPr/>
          <p:nvPr/>
        </p:nvSpPr>
        <p:spPr>
          <a:xfrm>
            <a:off x="73609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TAKEAWAY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517</Words>
  <Application>Microsoft Office PowerPoint</Application>
  <PresentationFormat>Widescreen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Paawan</cp:lastModifiedBy>
  <cp:revision>4</cp:revision>
  <dcterms:created xsi:type="dcterms:W3CDTF">2026-08-20T04:02:39Z</dcterms:created>
  <dcterms:modified xsi:type="dcterms:W3CDTF">2026-08-20T09:05:29Z</dcterms:modified>
</cp:coreProperties>
</file>